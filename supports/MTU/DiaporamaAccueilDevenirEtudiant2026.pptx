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9" dt="2026-09-04T10:21:10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 Carpentier" userId="S::ycarpentier@iutbayonne.univ-pau.fr::c43d2eb9-2074-4630-9cf2-f72912ce3cef" providerId="AD" clId="Web-{00000000-0000-0000-0000-000000000000}"/>
    <pc:docChg chg="modSld">
      <pc:chgData name="Yann Carpentier" userId="S::ycarpentier@iutbayonne.univ-pau.fr::c43d2eb9-2074-4630-9cf2-f72912ce3cef" providerId="AD" clId="Web-{00000000-0000-0000-0000-000000000000}" dt="2026-09-04T10:21:10.216" v="98" actId="20577"/>
      <pc:docMkLst>
        <pc:docMk/>
      </pc:docMkLst>
      <pc:sldChg chg="modSp">
        <pc:chgData name="Yann Carpentier" userId="S::ycarpentier@iutbayonne.univ-pau.fr::c43d2eb9-2074-4630-9cf2-f72912ce3cef" providerId="AD" clId="Web-{00000000-0000-0000-0000-000000000000}" dt="2026-09-04T10:21:10.216" v="98" actId="20577"/>
        <pc:sldMkLst>
          <pc:docMk/>
          <pc:sldMk cId="0" sldId="258"/>
        </pc:sldMkLst>
        <pc:spChg chg="mod">
          <ac:chgData name="Yann Carpentier" userId="S::ycarpentier@iutbayonne.univ-pau.fr::c43d2eb9-2074-4630-9cf2-f72912ce3cef" providerId="AD" clId="Web-{00000000-0000-0000-0000-000000000000}" dt="2026-09-04T10:21:10.216" v="98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Yann Carpentier" userId="S::ycarpentier@iutbayonne.univ-pau.fr::c43d2eb9-2074-4630-9cf2-f72912ce3cef" providerId="AD" clId="Web-{00000000-0000-0000-0000-000000000000}" dt="2026-09-04T10:21:02.982" v="95" actId="20577"/>
        <pc:sldMkLst>
          <pc:docMk/>
          <pc:sldMk cId="0" sldId="259"/>
        </pc:sldMkLst>
        <pc:spChg chg="mod">
          <ac:chgData name="Yann Carpentier" userId="S::ycarpentier@iutbayonne.univ-pau.fr::c43d2eb9-2074-4630-9cf2-f72912ce3cef" providerId="AD" clId="Web-{00000000-0000-0000-0000-000000000000}" dt="2026-09-04T10:21:02.982" v="95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87941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Image 9" descr="logo collège STEE-horizontal-RV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15616" y="404664"/>
            <a:ext cx="4212336" cy="98755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0" y="456113"/>
            <a:ext cx="644719" cy="93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0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3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solidFill>
            <a:srgbClr val="B5BE00"/>
          </a:solidFill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2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2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6007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E6007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66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5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E6007E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6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547664" y="6453336"/>
            <a:ext cx="4472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44408" y="6453336"/>
            <a:ext cx="442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e 6"/>
          <p:cNvGrpSpPr/>
          <p:nvPr/>
        </p:nvGrpSpPr>
        <p:grpSpPr>
          <a:xfrm>
            <a:off x="6300192" y="6490282"/>
            <a:ext cx="1944216" cy="367718"/>
            <a:chOff x="5724128" y="6422186"/>
            <a:chExt cx="2304256" cy="435814"/>
          </a:xfrm>
        </p:grpSpPr>
        <p:sp>
          <p:nvSpPr>
            <p:cNvPr id="8" name="Triangle isocèle 7"/>
            <p:cNvSpPr/>
            <p:nvPr userDrawn="1"/>
          </p:nvSpPr>
          <p:spPr>
            <a:xfrm>
              <a:off x="5724128" y="6422186"/>
              <a:ext cx="724195" cy="435814"/>
            </a:xfrm>
            <a:prstGeom prst="triangle">
              <a:avLst>
                <a:gd name="adj" fmla="val 49600"/>
              </a:avLst>
            </a:prstGeom>
            <a:solidFill>
              <a:srgbClr val="B5BE0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Triangle isocèle 8"/>
            <p:cNvSpPr/>
            <p:nvPr userDrawn="1"/>
          </p:nvSpPr>
          <p:spPr>
            <a:xfrm>
              <a:off x="7304189" y="6422186"/>
              <a:ext cx="724195" cy="435814"/>
            </a:xfrm>
            <a:prstGeom prst="triangle">
              <a:avLst/>
            </a:prstGeom>
            <a:solidFill>
              <a:srgbClr val="9260A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Triangle isocèle 9"/>
            <p:cNvSpPr/>
            <p:nvPr userDrawn="1"/>
          </p:nvSpPr>
          <p:spPr>
            <a:xfrm>
              <a:off x="6514158" y="6422186"/>
              <a:ext cx="724195" cy="435814"/>
            </a:xfrm>
            <a:prstGeom prst="triangle">
              <a:avLst/>
            </a:prstGeom>
            <a:solidFill>
              <a:srgbClr val="67B0E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6347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914400" rtl="0" eaLnBrk="1" latinLnBrk="0" hangingPunct="1">
        <a:spcBef>
          <a:spcPct val="20000"/>
        </a:spcBef>
        <a:buFont typeface="Wingdings 3" pitchFamily="18" charset="2"/>
        <a:buChar char="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spcBef>
          <a:spcPct val="20000"/>
        </a:spcBef>
        <a:buFont typeface="Calibri" pitchFamily="34" charset="0"/>
        <a:buChar char="&gt;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spcBef>
          <a:spcPct val="20000"/>
        </a:spcBef>
        <a:buFont typeface="Calibri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Devenir</a:t>
            </a:r>
            <a:r>
              <a:rPr dirty="0"/>
              <a:t> </a:t>
            </a:r>
            <a:r>
              <a:rPr dirty="0" err="1"/>
              <a:t>étudiant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Durée </a:t>
            </a:r>
            <a:r>
              <a:rPr dirty="0" err="1"/>
              <a:t>totale</a:t>
            </a:r>
            <a:r>
              <a:rPr dirty="0"/>
              <a:t> : 4h30 (1h30 </a:t>
            </a:r>
            <a:r>
              <a:rPr dirty="0" err="1"/>
              <a:t>encadrée</a:t>
            </a:r>
            <a:r>
              <a:rPr dirty="0"/>
              <a:t> + 3h </a:t>
            </a:r>
            <a:r>
              <a:rPr dirty="0" err="1"/>
              <a:t>autonomie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rPr lang="en-US"/>
              <a:t>🎯 Objectifs pédagogiques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27" y="2407297"/>
            <a:ext cx="5243224" cy="40038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1800" b="1" dirty="0"/>
              <a:t>Appliquer les bonnes pratiques de vie en société</a:t>
            </a:r>
            <a:endParaRPr lang="fr-FR" sz="1800" b="1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fr-FR" sz="1800" dirty="0"/>
              <a:t>Connaitre les règles de fonctionnement de l’université, de l’IUT, du département</a:t>
            </a:r>
            <a:endParaRPr lang="fr-FR" sz="18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fr-FR" sz="1800" dirty="0">
              <a:ea typeface="Calibri"/>
              <a:cs typeface="Calibri"/>
            </a:endParaRPr>
          </a:p>
          <a:p>
            <a:pPr marL="457200" lvl="1" indent="0">
              <a:buNone/>
            </a:pPr>
            <a:endParaRPr lang="fr-FR" sz="1800" dirty="0">
              <a:ea typeface="Calibri"/>
              <a:cs typeface="Calibri"/>
            </a:endParaRPr>
          </a:p>
          <a:p>
            <a:r>
              <a:rPr lang="fr-FR" sz="1800" b="1" err="1"/>
              <a:t>Etre</a:t>
            </a:r>
            <a:r>
              <a:rPr lang="fr-FR" sz="1800" b="1" dirty="0"/>
              <a:t> autonome et responsable</a:t>
            </a:r>
            <a:endParaRPr lang="fr-FR" sz="1800" b="1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fr-FR" sz="1800" dirty="0"/>
              <a:t>Apprendre à connaitre son environnement, les informations utiles à la vie étudiante quotidienne</a:t>
            </a:r>
            <a:endParaRPr lang="fr-FR" sz="1800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fr-FR" sz="1800" dirty="0"/>
              <a:t>Identifier les outils de travail de l’étudiant(e)</a:t>
            </a:r>
            <a:endParaRPr lang="fr-FR" sz="1800" dirty="0">
              <a:ea typeface="Calibri"/>
              <a:cs typeface="Calibri"/>
            </a:endParaRPr>
          </a:p>
        </p:txBody>
      </p:sp>
      <p:pic>
        <p:nvPicPr>
          <p:cNvPr id="7" name="Picture 6" descr="Vous allez devenir étudiant ? Suivez le guide ! | Étudiant.gouv">
            <a:extLst>
              <a:ext uri="{FF2B5EF4-FFF2-40B4-BE49-F238E27FC236}">
                <a16:creationId xmlns:a16="http://schemas.microsoft.com/office/drawing/2014/main" id="{7F1E6FC4-A955-2C35-9B2F-93AED093F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1" b="781"/>
          <a:stretch>
            <a:fillRect/>
          </a:stretch>
        </p:blipFill>
        <p:spPr>
          <a:xfrm>
            <a:off x="5838395" y="3305798"/>
            <a:ext cx="2989154" cy="1280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🧑‍🏫 Partie 1 – Séance encadrée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9250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dirty="0"/>
              <a:t>1.</a:t>
            </a:r>
            <a:r>
              <a:rPr lang="en-US" dirty="0"/>
              <a:t> </a:t>
            </a:r>
            <a:r>
              <a:rPr lang="fr-FR" dirty="0"/>
              <a:t>Bingo </a:t>
            </a:r>
            <a:r>
              <a:rPr dirty="0"/>
              <a:t>« </a:t>
            </a:r>
            <a:r>
              <a:rPr lang="fr-FR" dirty="0"/>
              <a:t>Vivre ensemble à l’IUT</a:t>
            </a:r>
            <a:r>
              <a:rPr dirty="0"/>
              <a:t>» (</a:t>
            </a:r>
            <a:r>
              <a:rPr lang="en-US" dirty="0"/>
              <a:t>40</a:t>
            </a:r>
            <a:r>
              <a:rPr dirty="0"/>
              <a:t> min)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dirty="0"/>
              <a:t>2. Mini-</a:t>
            </a:r>
            <a:r>
              <a:rPr dirty="0" err="1"/>
              <a:t>débat</a:t>
            </a:r>
            <a:r>
              <a:rPr dirty="0"/>
              <a:t> : « Liberté rime-t-</a:t>
            </a:r>
            <a:r>
              <a:rPr dirty="0" err="1"/>
              <a:t>elle</a:t>
            </a:r>
            <a:r>
              <a:rPr dirty="0"/>
              <a:t> avec </a:t>
            </a:r>
            <a:r>
              <a:rPr dirty="0" err="1"/>
              <a:t>responsabilité</a:t>
            </a:r>
            <a:r>
              <a:rPr dirty="0"/>
              <a:t> ? » (</a:t>
            </a:r>
            <a:r>
              <a:rPr lang="fr-FR" dirty="0"/>
              <a:t>25</a:t>
            </a:r>
            <a:r>
              <a:rPr dirty="0"/>
              <a:t> min)</a:t>
            </a:r>
            <a:endParaRPr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Présentation</a:t>
            </a:r>
            <a:r>
              <a:rPr dirty="0"/>
              <a:t> du travail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autonomie</a:t>
            </a:r>
            <a:r>
              <a:rPr dirty="0"/>
              <a:t> (</a:t>
            </a:r>
            <a:r>
              <a:rPr lang="fr-FR" dirty="0"/>
              <a:t>5</a:t>
            </a:r>
            <a:r>
              <a:rPr dirty="0"/>
              <a:t> min)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🤝 </a:t>
            </a:r>
            <a:r>
              <a:rPr dirty="0" err="1"/>
              <a:t>Partie</a:t>
            </a:r>
            <a:r>
              <a:rPr dirty="0"/>
              <a:t> 2 – </a:t>
            </a:r>
            <a:r>
              <a:rPr dirty="0" err="1"/>
              <a:t>Activités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autonomie</a:t>
            </a:r>
            <a:r>
              <a:rPr dirty="0"/>
              <a:t> </a:t>
            </a:r>
            <a:br>
              <a:rPr lang="en-US" dirty="0"/>
            </a:br>
            <a:r>
              <a:rPr dirty="0"/>
              <a:t>(3h</a:t>
            </a:r>
            <a:r>
              <a:rPr lang="en-US" dirty="0"/>
              <a:t> </a:t>
            </a:r>
            <a:r>
              <a:rPr lang="en-US" dirty="0" err="1"/>
              <a:t>étudiant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lang="en-US" dirty="0"/>
              <a:t> </a:t>
            </a:r>
            <a:r>
              <a:rPr dirty="0"/>
              <a:t>Enquête terrain</a:t>
            </a:r>
            <a:r>
              <a:rPr lang="en-US" dirty="0"/>
              <a:t> </a:t>
            </a:r>
            <a:r>
              <a:rPr dirty="0"/>
              <a:t>– </a:t>
            </a:r>
            <a:r>
              <a:rPr lang="en-US" dirty="0"/>
              <a:t>Campus </a:t>
            </a:r>
            <a:r>
              <a:rPr lang="en-US" dirty="0" err="1"/>
              <a:t>Expédition</a:t>
            </a:r>
            <a:endParaRPr lang="fr-FR" dirty="0" err="1">
              <a:ea typeface="Calibri"/>
              <a:cs typeface="Calibri"/>
            </a:endParaRPr>
          </a:p>
          <a:p>
            <a:pPr marL="0" indent="0">
              <a:buNone/>
            </a:pPr>
            <a:r>
              <a:rPr dirty="0"/>
              <a:t>2.</a:t>
            </a:r>
            <a:r>
              <a:rPr lang="en-US" dirty="0"/>
              <a:t> Production du document </a:t>
            </a:r>
            <a:r>
              <a:rPr lang="en-US" err="1"/>
              <a:t>partagé</a:t>
            </a:r>
            <a:r>
              <a:rPr lang="en-US" dirty="0"/>
              <a:t> avec les retours investigation des missions 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3.  </a:t>
            </a:r>
            <a:r>
              <a:rPr lang="en-US" dirty="0" err="1">
                <a:ea typeface="Calibri"/>
                <a:cs typeface="Calibri"/>
              </a:rPr>
              <a:t>Ressources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disponibles</a:t>
            </a:r>
            <a:r>
              <a:rPr lang="en-US" dirty="0">
                <a:ea typeface="Calibri"/>
                <a:cs typeface="Calibri"/>
              </a:rPr>
              <a:t> sur </a:t>
            </a:r>
            <a:r>
              <a:rPr lang="en-US" dirty="0" err="1">
                <a:ea typeface="Calibri"/>
                <a:cs typeface="Calibri"/>
              </a:rPr>
              <a:t>elearn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4.  </a:t>
            </a:r>
            <a:r>
              <a:rPr lang="en-US" dirty="0" err="1">
                <a:ea typeface="Calibri"/>
                <a:cs typeface="Calibri"/>
              </a:rPr>
              <a:t>Dépôt</a:t>
            </a:r>
            <a:r>
              <a:rPr lang="en-US" dirty="0">
                <a:ea typeface="Calibri"/>
                <a:cs typeface="Calibri"/>
              </a:rPr>
              <a:t> sur </a:t>
            </a:r>
            <a:r>
              <a:rPr lang="en-US" dirty="0" err="1">
                <a:ea typeface="Calibri"/>
                <a:cs typeface="Calibri"/>
              </a:rPr>
              <a:t>elearn</a:t>
            </a:r>
            <a:r>
              <a:rPr lang="en-US" dirty="0"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5. </a:t>
            </a:r>
            <a:r>
              <a:rPr lang="en-US" dirty="0" err="1">
                <a:ea typeface="Calibri"/>
                <a:cs typeface="Calibri"/>
              </a:rPr>
              <a:t>Contruction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d'une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synthèse</a:t>
            </a:r>
            <a:r>
              <a:rPr lang="en-US" dirty="0">
                <a:ea typeface="Calibri"/>
                <a:cs typeface="Calibri"/>
              </a:rPr>
              <a:t> des </a:t>
            </a:r>
            <a:r>
              <a:rPr lang="en-US" dirty="0" err="1">
                <a:ea typeface="Calibri"/>
                <a:cs typeface="Calibri"/>
              </a:rPr>
              <a:t>résultats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l'expédition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X.XX Modele Cour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 R1.02 Dvpt Interface Web.pptx" id="{224C6B87-0725-4492-A1E7-83C8020A0701}" vid="{805EF7F6-158E-4CEF-9AED-9688CF08628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215801-3f56-4e65-9dbb-ecaff7c533d9">
      <Terms xmlns="http://schemas.microsoft.com/office/infopath/2007/PartnerControls"/>
    </lcf76f155ced4ddcb4097134ff3c332f>
    <Typederessource xmlns="9e215801-3f56-4e65-9dbb-ecaff7c533d9" xsi:nil="true"/>
    <TaxCatchAll xmlns="b232d77f-b07c-40ed-aac7-cd29d7d713c2" xsi:nil="true"/>
    <Propri_x00e9_taire xmlns="9e215801-3f56-4e65-9dbb-ecaff7c533d9">
      <UserInfo>
        <DisplayName/>
        <AccountId xsi:nil="true"/>
        <AccountType/>
      </UserInfo>
    </Propri_x00e9_taire>
    <trait_x00e9_ xmlns="9e215801-3f56-4e65-9dbb-ecaff7c533d9">true</trait_x00e9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915D1A3A0DC14ABA1DEF02721E8315" ma:contentTypeVersion="22" ma:contentTypeDescription="Crée un document." ma:contentTypeScope="" ma:versionID="4105627f8d169bca69b92191069db3f7">
  <xsd:schema xmlns:xsd="http://www.w3.org/2001/XMLSchema" xmlns:xs="http://www.w3.org/2001/XMLSchema" xmlns:p="http://schemas.microsoft.com/office/2006/metadata/properties" xmlns:ns2="b232d77f-b07c-40ed-aac7-cd29d7d713c2" xmlns:ns3="9e215801-3f56-4e65-9dbb-ecaff7c533d9" targetNamespace="http://schemas.microsoft.com/office/2006/metadata/properties" ma:root="true" ma:fieldsID="a75ed461230d2bcdb1518dfab40f0cff" ns2:_="" ns3:_="">
    <xsd:import namespace="b232d77f-b07c-40ed-aac7-cd29d7d713c2"/>
    <xsd:import namespace="9e215801-3f56-4e65-9dbb-ecaff7c533d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Typederessource" minOccurs="0"/>
                <xsd:element ref="ns3:trait_x00e9_" minOccurs="0"/>
                <xsd:element ref="ns3:Propri_x00e9_taire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2d77f-b07c-40ed-aac7-cd29d7d713c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d6624f3-3e10-45c3-8935-2c16b1760f22}" ma:internalName="TaxCatchAll" ma:showField="CatchAllData" ma:web="b232d77f-b07c-40ed-aac7-cd29d7d71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15801-3f56-4e65-9dbb-ecaff7c533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dd7cd641-bfb8-4c17-8afa-8fe5d3a82c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ypederessource" ma:index="24" nillable="true" ma:displayName="Type de ressource" ma:format="Dropdown" ma:internalName="Typederessource">
      <xsd:simpleType>
        <xsd:restriction base="dms:Choice">
          <xsd:enumeration value="Virtualisation"/>
          <xsd:enumeration value="Développement"/>
        </xsd:restriction>
      </xsd:simpleType>
    </xsd:element>
    <xsd:element name="trait_x00e9_" ma:index="25" nillable="true" ma:displayName="traité" ma:default="1" ma:format="Dropdown" ma:internalName="trait_x00e9_">
      <xsd:simpleType>
        <xsd:restriction base="dms:Boolean"/>
      </xsd:simpleType>
    </xsd:element>
    <xsd:element name="Propri_x00e9_taire" ma:index="26" nillable="true" ma:displayName="Propriétaire" ma:format="Dropdown" ma:list="UserInfo" ma:SharePointGroup="0" ma:internalName="Propri_x00e9_tair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43D18F-096A-48CF-8751-FC08DCDE31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92C55E-D5CD-4F00-B8F8-9818B5F9E143}">
  <ds:schemaRefs>
    <ds:schemaRef ds:uri="http://schemas.microsoft.com/office/2006/metadata/properties"/>
    <ds:schemaRef ds:uri="b232d77f-b07c-40ed-aac7-cd29d7d713c2"/>
    <ds:schemaRef ds:uri="http://schemas.microsoft.com/office/infopath/2007/PartnerControls"/>
    <ds:schemaRef ds:uri="http://purl.org/dc/dcmitype/"/>
    <ds:schemaRef ds:uri="http://purl.org/dc/elements/1.1/"/>
    <ds:schemaRef ds:uri="9e215801-3f56-4e65-9dbb-ecaff7c533d9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80D76F1-D115-4161-AED1-2DCA7AB9F6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32d77f-b07c-40ed-aac7-cd29d7d713c2"/>
    <ds:schemaRef ds:uri="9e215801-3f56-4e65-9dbb-ecaff7c533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RX.XX Modele Cours</Template>
  <TotalTime>38</TotalTime>
  <Words>154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RX.XX Modele Cours</vt:lpstr>
      <vt:lpstr>Devenir étudiant</vt:lpstr>
      <vt:lpstr>🎯 Objectifs pédagogiques </vt:lpstr>
      <vt:lpstr>🧑‍🏫 Partie 1 – Séance encadrée (1h30)</vt:lpstr>
      <vt:lpstr>🤝 Partie 2 – Activités en autonomie  (3h étudiant)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Carpentier Yann</dc:creator>
  <cp:keywords/>
  <dc:description>generated using python-pptx</dc:description>
  <cp:lastModifiedBy>Yann Carpentier</cp:lastModifiedBy>
  <cp:revision>109</cp:revision>
  <dcterms:created xsi:type="dcterms:W3CDTF">2013-01-27T09:14:16Z</dcterms:created>
  <dcterms:modified xsi:type="dcterms:W3CDTF">2026-09-04T10:21:13Z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0x01010035915D1A3A0DC14ABA1DEF02721E8315</vt:lpwstr>
  </property>
  <property fmtid="{D5CDD505-2E9C-101B-9397-08002B2CF9AE}" pid="3" name="MediaServiceImageTags">
    <vt:lpwstr/>
  </property>
</Properties>
</file>