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14"/>
  </p:notesMasterIdLst>
  <p:sldIdLst>
    <p:sldId id="263" r:id="rId2"/>
    <p:sldId id="256" r:id="rId3"/>
    <p:sldId id="265" r:id="rId4"/>
    <p:sldId id="257" r:id="rId5"/>
    <p:sldId id="267" r:id="rId6"/>
    <p:sldId id="259" r:id="rId7"/>
    <p:sldId id="269" r:id="rId8"/>
    <p:sldId id="268" r:id="rId9"/>
    <p:sldId id="260" r:id="rId10"/>
    <p:sldId id="270" r:id="rId11"/>
    <p:sldId id="261" r:id="rId12"/>
    <p:sldId id="272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hilippe Roose" initials="PR" lastIdx="5" clrIdx="0">
    <p:extLst>
      <p:ext uri="{19B8F6BF-5375-455C-9EA6-DF929625EA0E}">
        <p15:presenceInfo xmlns:p15="http://schemas.microsoft.com/office/powerpoint/2012/main" userId="S-1-5-21-606747145-484061587-682003330-113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2108" autoAdjust="0"/>
  </p:normalViewPr>
  <p:slideViewPr>
    <p:cSldViewPr snapToGrid="0">
      <p:cViewPr>
        <p:scale>
          <a:sx n="65" d="100"/>
          <a:sy n="65" d="100"/>
        </p:scale>
        <p:origin x="724" y="-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527A5-01A2-4B35-B291-31986D5394F5}" type="datetimeFigureOut">
              <a:rPr lang="fr-FR" smtClean="0"/>
              <a:t>12/09/2022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343BE0-4896-4596-B77C-D4FB1B2D43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6892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iversalis.fr/encyclopedie/logiciels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ensemble de </a:t>
            </a:r>
            <a:r>
              <a:rPr lang="en-US" dirty="0" err="1"/>
              <a:t>programmes</a:t>
            </a:r>
            <a:r>
              <a:rPr lang="en-US" dirty="0"/>
              <a:t> </a:t>
            </a:r>
            <a:r>
              <a:rPr lang="fr-FR" dirty="0"/>
              <a:t>permettant de faire fonctionner et contrôler l’utilisation des ressources matérielles d’un ou plusieurs appareil informatique. </a:t>
            </a:r>
          </a:p>
          <a:p>
            <a:r>
              <a:rPr lang="fr-FR" dirty="0"/>
              <a:t>Il assure le démarrage (</a:t>
            </a:r>
            <a:r>
              <a:rPr lang="fr-FR" i="1" dirty="0"/>
              <a:t>Boot</a:t>
            </a:r>
            <a:r>
              <a:rPr lang="fr-FR" dirty="0"/>
              <a:t>) de l'ordinateur et l'exécution des </a:t>
            </a:r>
            <a:r>
              <a:rPr lang="fr-FR" dirty="0">
                <a:hlinkClick r:id="rId3" tooltip="logiciels"/>
              </a:rPr>
              <a:t>logiciels</a:t>
            </a:r>
            <a:r>
              <a:rPr lang="fr-FR" dirty="0"/>
              <a:t> applicatifs.</a:t>
            </a:r>
          </a:p>
          <a:p>
            <a:r>
              <a:rPr lang="fr-FR" dirty="0"/>
              <a:t>Il permet d'établir une relation entre les différentes ressources matérielles, les applications et l'utilisateur </a:t>
            </a:r>
            <a:r>
              <a:rPr lang="en-US" dirty="0"/>
              <a:t>: gestion de la </a:t>
            </a:r>
            <a:r>
              <a:rPr lang="en-US" dirty="0" err="1"/>
              <a:t>mémoire</a:t>
            </a:r>
            <a:r>
              <a:rPr lang="en-US" dirty="0"/>
              <a:t>, du </a:t>
            </a:r>
            <a:r>
              <a:rPr lang="en-US" dirty="0" err="1"/>
              <a:t>processeur</a:t>
            </a:r>
            <a:r>
              <a:rPr lang="en-US" dirty="0"/>
              <a:t>, des </a:t>
            </a:r>
            <a:r>
              <a:rPr lang="en-US" dirty="0" err="1"/>
              <a:t>périphériques</a:t>
            </a:r>
            <a:r>
              <a:rPr lang="en-US" dirty="0"/>
              <a:t>, gestion de </a:t>
            </a:r>
            <a:r>
              <a:rPr lang="en-US" dirty="0" err="1"/>
              <a:t>fichiers</a:t>
            </a:r>
            <a:endParaRPr lang="en-US" dirty="0"/>
          </a:p>
          <a:p>
            <a:endParaRPr lang="en-US" dirty="0"/>
          </a:p>
          <a:p>
            <a:r>
              <a:rPr lang="en-US" dirty="0"/>
              <a:t>Un SE </a:t>
            </a:r>
            <a:r>
              <a:rPr lang="en-US" dirty="0" err="1"/>
              <a:t>est</a:t>
            </a:r>
            <a:r>
              <a:rPr lang="en-US" dirty="0"/>
              <a:t> compose d’un noyau (Kernel), </a:t>
            </a:r>
            <a:r>
              <a:rPr lang="en-US" dirty="0" err="1"/>
              <a:t>d’outils</a:t>
            </a:r>
            <a:r>
              <a:rPr lang="en-US" dirty="0"/>
              <a:t> </a:t>
            </a:r>
            <a:r>
              <a:rPr lang="en-US" dirty="0" err="1"/>
              <a:t>système</a:t>
            </a:r>
            <a:r>
              <a:rPr lang="en-US" dirty="0"/>
              <a:t> et </a:t>
            </a:r>
            <a:r>
              <a:rPr lang="en-US" dirty="0" err="1"/>
              <a:t>d’une</a:t>
            </a:r>
            <a:r>
              <a:rPr lang="en-US" dirty="0"/>
              <a:t> interface </a:t>
            </a:r>
            <a:r>
              <a:rPr lang="en-US" dirty="0" err="1"/>
              <a:t>graphique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43BE0-4896-4596-B77C-D4FB1B2D43E5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2743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415221-5EB7-2E75-65A1-E72577A15F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7894B2-4083-A7EB-B8E1-E3C30D3F84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8C9561-FD91-CDE1-F786-CF91BF7D5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995BED-595E-EF59-3FB1-C8EF67465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D42F2E-E8D3-F691-C67F-32DD878A8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FF24-F4AD-4806-BEA1-830BE241B5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28E2EA-1B37-71CB-DB1C-F5BF50F15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8464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966386-040E-0578-3F90-075D18978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536"/>
            <a:ext cx="10515600" cy="5134337"/>
          </a:xfrm>
        </p:spPr>
        <p:txBody>
          <a:bodyPr>
            <a:normAutofit/>
          </a:bodyPr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ü"/>
              <a:defRPr sz="2400"/>
            </a:lvl1pPr>
            <a:lvl2pPr marL="685800" indent="-228600">
              <a:buClr>
                <a:schemeClr val="accent1"/>
              </a:buClr>
              <a:buFont typeface="Wingdings" panose="05000000000000000000" pitchFamily="2" charset="2"/>
              <a:buChar char="ü"/>
              <a:defRPr sz="2000"/>
            </a:lvl2pPr>
            <a:lvl3pPr marL="1143000" indent="-228600">
              <a:buClr>
                <a:schemeClr val="accent1"/>
              </a:buClr>
              <a:buFont typeface="Wingdings" panose="05000000000000000000" pitchFamily="2" charset="2"/>
              <a:buChar char="ü"/>
              <a:defRPr sz="1800"/>
            </a:lvl3pPr>
            <a:lvl4pPr marL="1600200" indent="-228600">
              <a:buClr>
                <a:schemeClr val="accent1"/>
              </a:buClr>
              <a:buFont typeface="Wingdings" panose="05000000000000000000" pitchFamily="2" charset="2"/>
              <a:buChar char="ü"/>
              <a:defRPr sz="1600"/>
            </a:lvl4pPr>
            <a:lvl5pPr marL="2057400" indent="-228600">
              <a:buClr>
                <a:schemeClr val="accent1"/>
              </a:buClr>
              <a:buFont typeface="Wingdings" panose="05000000000000000000" pitchFamily="2" charset="2"/>
              <a:buChar char="ü"/>
              <a:defRPr sz="16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0E6A48-DD40-476C-495F-66C14AD31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3743" y="182563"/>
            <a:ext cx="2743200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6E6FF24-F4AD-4806-BEA1-830BE241B566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20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617D64-7528-1D69-F3FB-E92021A7F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07E995-A774-BDF2-B2CC-BF46B2DE9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982EBE-D812-69F0-BD10-9A7176C83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010741-D192-905E-7B00-1F1865EAD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7C6450-3566-BC9F-48A6-4C3DF7AB3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FF24-F4AD-4806-BEA1-830BE241B5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68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5531B5-59D8-C4B5-AA3E-EB5C91A03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064E5F-7F8B-93C1-FFF2-A4384D69F4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38C045-4587-15EC-19CE-3C1570A7D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F6C26EF-5D94-4865-EC22-080CD3BFF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3F723A6-2AD3-47AB-646C-4E3F6D3DA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979EEB5-408C-9A4C-F165-53D31CF9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FF24-F4AD-4806-BEA1-830BE241B5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870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7E6C1-91BB-C60A-D862-45470EDEE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993BAF7-9F02-D9EA-AA83-9F092CF8E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10D7479-09A5-5089-DB4C-8CC435AEA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6F238AF-EC8A-31CC-4478-A742EAEC5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A8D029E-EF74-C746-E52A-DB08715900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59D90D8-37E6-C2BF-BAF0-D689D425B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0602299-6730-0EF2-33B5-E164CA17E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A097023-65BC-D5C4-46AF-A610B450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FF24-F4AD-4806-BEA1-830BE241B5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23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E59E67-F586-B15E-D91F-7A0B7D1C2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6D53C8F-29DE-E11A-EA5D-3163FC715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9F607CA-C407-F4E6-1A10-DEE70C811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712125C-285E-440A-B2E7-6B85E8906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FF24-F4AD-4806-BEA1-830BE241B5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54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15277C-BA23-601D-F1F0-AB4704CDD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1AEE2A6-8696-A44F-9B87-6E6978A46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CA6776-D90A-ECAC-255B-F4141B6E1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FF24-F4AD-4806-BEA1-830BE241B5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876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3FE079-2E35-8156-1DEC-3F2EBDBE0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6557F4-C861-0B8F-F459-249A3BEEC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C730258-EFA4-F240-B852-5934E84F2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3B42822-C8E2-C262-0A0C-B9213204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4D79F2B-8F29-E6BF-F4DB-E2CDDE7C9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626DA41-22A7-71E5-263D-EAD94A82C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FF24-F4AD-4806-BEA1-830BE241B5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3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4524F4-AC89-F8DE-EEAA-3363B06CF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55DDA61-4B3A-E60B-9564-1A7247C5D1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ABD6511-BD55-FC8E-A692-3EC38C044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455D43-3C58-D1B0-1A6A-FA7627033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832A31B-A72C-DC7B-ECB5-2529B582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2FAE4DF-BA20-C597-D3A5-034DE9AB2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FF24-F4AD-4806-BEA1-830BE241B5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2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143B6A-26D1-C965-2CBD-5F7871A3A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07CFDD9-FDFC-960B-6A2D-C8C06140D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E9028E-A7B5-A194-E437-A93D72C1E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B4385F-5531-7F9A-7DB2-EFE6DD35D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C71DF1-F200-E457-ABB1-E5AC2E5F2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FF24-F4AD-4806-BEA1-830BE241B5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177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E284C5C-5955-6842-7F82-65BBAE371E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0C141E3-045E-DA75-20ED-8DCE4AB07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E42E55-6606-8EAE-E448-8B2FF03A2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D33F1F-CA0C-2B66-14CD-DDBD6DB17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10D8E4-8597-65AD-79F8-2FC200FEF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FF24-F4AD-4806-BEA1-830BE241B5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90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CCC0081-580D-E5A4-2FE5-6A23F55F1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2949FC-FEB3-4E29-4AA7-B433D7FA3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CB4311-1320-A1FE-8FDC-B40E076F67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8C1299-635D-0E03-B0F9-98BEE523B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64E037-D548-B57F-E9C4-3E21C5A8A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6FF24-F4AD-4806-BEA1-830BE241B56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44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file:///\\jaizkibel\Info1" TargetMode="Externa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579" y="1017260"/>
            <a:ext cx="3177560" cy="317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68727" y="549591"/>
            <a:ext cx="7254546" cy="1941212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Système</a:t>
            </a:r>
            <a:r>
              <a:rPr lang="en-US" sz="40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d'exploitation</a:t>
            </a:r>
            <a:br>
              <a:rPr lang="en-US" sz="40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44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Windows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pic>
        <p:nvPicPr>
          <p:cNvPr id="2054" name="Picture 6" descr="Resultado de imagen de iut anglet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861" y="419519"/>
            <a:ext cx="1041722" cy="1512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DA38CC7A-AD43-37F6-F5EC-E143BEDD04C6}"/>
              </a:ext>
            </a:extLst>
          </p:cNvPr>
          <p:cNvSpPr txBox="1"/>
          <p:nvPr/>
        </p:nvSpPr>
        <p:spPr>
          <a:xfrm flipH="1">
            <a:off x="1165575" y="3078991"/>
            <a:ext cx="7439108" cy="3673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Objectifs du TP1 </a:t>
            </a:r>
          </a:p>
          <a:p>
            <a:endParaRPr lang="fr-FR" dirty="0"/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Gestion de fichiers</a:t>
            </a: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arborescence de dossiers : créer, modifier, supprimer, renommer</a:t>
            </a: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fichiers : créer, modifier, supprimer, renommer</a:t>
            </a: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décoder les propriétés des dossiers et fichiers</a:t>
            </a: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personnaliser l’affichage de l’explorateur de fichier</a:t>
            </a: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gérer des droits sur les fichiers </a:t>
            </a: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partager des dossiers et des fichiers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fr-F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Gérer les bureaux  </a:t>
            </a:r>
          </a:p>
          <a:p>
            <a:endParaRPr lang="fr-FR" dirty="0"/>
          </a:p>
          <a:p>
            <a:r>
              <a:rPr lang="fr-FR" dirty="0"/>
              <a:t>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70FCC0F-EB42-34BF-4EE3-F587A8D38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FF24-F4AD-4806-BEA1-830BE241B56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178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>
            <a:extLst>
              <a:ext uri="{FF2B5EF4-FFF2-40B4-BE49-F238E27FC236}">
                <a16:creationId xmlns:a16="http://schemas.microsoft.com/office/drawing/2014/main" id="{0B868CD6-7DE4-F9B3-7C75-D6E075AC4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RAPPELS</a:t>
            </a:r>
          </a:p>
        </p:txBody>
      </p:sp>
      <p:sp>
        <p:nvSpPr>
          <p:cNvPr id="3" name="Sous-titre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>
            <a:noFill/>
          </a:ln>
        </p:spPr>
        <p:txBody>
          <a:bodyPr>
            <a:noAutofit/>
          </a:bodyPr>
          <a:lstStyle/>
          <a:p>
            <a:r>
              <a:rPr lang="fr-FR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/>
              <a:t>Un système d’exploitation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 </a:t>
            </a:r>
            <a:r>
              <a:rPr lang="en-US" dirty="0" err="1"/>
              <a:t>système</a:t>
            </a:r>
            <a:r>
              <a:rPr lang="en-US" dirty="0"/>
              <a:t> </a:t>
            </a:r>
            <a:r>
              <a:rPr lang="en-US" dirty="0" err="1"/>
              <a:t>d’exploitation</a:t>
            </a:r>
            <a:r>
              <a:rPr lang="en-US" dirty="0"/>
              <a:t> assure…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Un système d’exploitation est composé de :</a:t>
            </a:r>
          </a:p>
          <a:p>
            <a:endParaRPr 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7F4C8279-D611-30AE-4498-AEB006E4F5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230" t="17549" r="20164" b="21228"/>
          <a:stretch/>
        </p:blipFill>
        <p:spPr>
          <a:xfrm>
            <a:off x="7417087" y="3528984"/>
            <a:ext cx="4295273" cy="2481641"/>
          </a:xfrm>
          <a:prstGeom prst="rect">
            <a:avLst/>
          </a:prstGeom>
        </p:spPr>
      </p:pic>
      <p:sp>
        <p:nvSpPr>
          <p:cNvPr id="15" name="Espace réservé du numéro de diapositive 14">
            <a:extLst>
              <a:ext uri="{FF2B5EF4-FFF2-40B4-BE49-F238E27FC236}">
                <a16:creationId xmlns:a16="http://schemas.microsoft.com/office/drawing/2014/main" id="{6C54FC7A-4088-92C3-73E5-6529D4885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FF24-F4AD-4806-BEA1-830BE241B56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846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456CEAA-62E1-BA2E-E00F-D76AC566C3ED}"/>
              </a:ext>
            </a:extLst>
          </p:cNvPr>
          <p:cNvSpPr/>
          <p:nvPr/>
        </p:nvSpPr>
        <p:spPr>
          <a:xfrm>
            <a:off x="1600855" y="4332880"/>
            <a:ext cx="245533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Windows Vista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Windows 7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Windows 8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Windows 10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Windows 11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Windows Server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Windows Home Server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Windows CE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Windows Mobile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Windows Phone 7-10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69F3C0-BDA3-007A-41A0-CB7759017429}"/>
              </a:ext>
            </a:extLst>
          </p:cNvPr>
          <p:cNvSpPr/>
          <p:nvPr/>
        </p:nvSpPr>
        <p:spPr>
          <a:xfrm>
            <a:off x="399485" y="2554677"/>
            <a:ext cx="2887135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MS-DOS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Windows 1.0 - 2.0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Windows 3.0 – 3.1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Windows 95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Windows 98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Windows ME - Millennium Edition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Windows NT 31. - 4.0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Windows 2000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Windows XP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A6D88B4-071E-2AF2-79A0-193654675A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7826" b="34307"/>
          <a:stretch/>
        </p:blipFill>
        <p:spPr>
          <a:xfrm>
            <a:off x="9160716" y="2389163"/>
            <a:ext cx="1454799" cy="1536540"/>
          </a:xfrm>
          <a:prstGeom prst="rect">
            <a:avLst/>
          </a:prstGeom>
        </p:spPr>
      </p:pic>
      <p:sp>
        <p:nvSpPr>
          <p:cNvPr id="20" name="Titre 19">
            <a:extLst>
              <a:ext uri="{FF2B5EF4-FFF2-40B4-BE49-F238E27FC236}">
                <a16:creationId xmlns:a16="http://schemas.microsoft.com/office/drawing/2014/main" id="{BA25C292-7E52-B7E3-62AF-2021643E8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506"/>
            <a:ext cx="10515600" cy="588464"/>
          </a:xfrm>
        </p:spPr>
        <p:txBody>
          <a:bodyPr/>
          <a:lstStyle/>
          <a:p>
            <a:r>
              <a:rPr lang="fr-FR" dirty="0"/>
              <a:t>HISTOIRE</a:t>
            </a:r>
          </a:p>
        </p:txBody>
      </p:sp>
      <p:sp>
        <p:nvSpPr>
          <p:cNvPr id="21" name="Espace réservé du contenu 20">
            <a:extLst>
              <a:ext uri="{FF2B5EF4-FFF2-40B4-BE49-F238E27FC236}">
                <a16:creationId xmlns:a16="http://schemas.microsoft.com/office/drawing/2014/main" id="{2A9B898E-041E-1B59-D417-AA9279957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 Windows est au départ une interface graphique unifiée (GUI) produite par Microsoft, devenue ensuite une gamme de systèmes d’exploitation compatibles PC</a:t>
            </a:r>
            <a:endParaRPr lang="en-US" sz="2400" dirty="0"/>
          </a:p>
          <a:p>
            <a:endParaRPr lang="fr-FR" dirty="0"/>
          </a:p>
        </p:txBody>
      </p:sp>
      <p:sp>
        <p:nvSpPr>
          <p:cNvPr id="19" name="Espace réservé du numéro de diapositive 18">
            <a:extLst>
              <a:ext uri="{FF2B5EF4-FFF2-40B4-BE49-F238E27FC236}">
                <a16:creationId xmlns:a16="http://schemas.microsoft.com/office/drawing/2014/main" id="{B63658BE-44AF-0D6D-7C4A-669D9E4F7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FF24-F4AD-4806-BEA1-830BE241B566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BDB6DB1B-B1A7-DA0C-4433-B6BDED505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483" y="2834517"/>
            <a:ext cx="3647092" cy="2182373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D21E8FCB-B24A-5BA6-59B5-AE260D819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932" y="4137933"/>
            <a:ext cx="3647091" cy="242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759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99" y="1079339"/>
            <a:ext cx="8372354" cy="5197836"/>
          </a:xfrm>
          <a:prstGeom prst="rect">
            <a:avLst/>
          </a:prstGeom>
        </p:spPr>
      </p:pic>
      <p:cxnSp>
        <p:nvCxnSpPr>
          <p:cNvPr id="8" name="Connecteur droit avec flèche 7"/>
          <p:cNvCxnSpPr/>
          <p:nvPr/>
        </p:nvCxnSpPr>
        <p:spPr>
          <a:xfrm flipV="1">
            <a:off x="1283527" y="2129088"/>
            <a:ext cx="8533102" cy="659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endCxn id="15" idx="1"/>
          </p:cNvCxnSpPr>
          <p:nvPr/>
        </p:nvCxnSpPr>
        <p:spPr>
          <a:xfrm flipV="1">
            <a:off x="7106856" y="3116360"/>
            <a:ext cx="2790796" cy="641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816629" y="1881945"/>
            <a:ext cx="21315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Les </a:t>
            </a:r>
            <a:r>
              <a:rPr lang="en-US" dirty="0" err="1"/>
              <a:t>icônes</a:t>
            </a:r>
            <a:r>
              <a:rPr lang="en-US" dirty="0"/>
              <a:t> </a:t>
            </a:r>
            <a:r>
              <a:rPr lang="en-US" dirty="0" err="1"/>
              <a:t>raccourcis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9897652" y="2931694"/>
            <a:ext cx="1812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Menu </a:t>
            </a:r>
            <a:r>
              <a:rPr lang="en-US" dirty="0" err="1"/>
              <a:t>Contextuel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9816629" y="3884116"/>
            <a:ext cx="223261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Bouton</a:t>
            </a:r>
            <a:r>
              <a:rPr lang="en-US" dirty="0"/>
              <a:t> </a:t>
            </a:r>
            <a:r>
              <a:rPr lang="en-US" dirty="0" err="1"/>
              <a:t>secondaire</a:t>
            </a:r>
            <a:r>
              <a:rPr lang="en-US" dirty="0"/>
              <a:t> de la </a:t>
            </a:r>
            <a:r>
              <a:rPr lang="en-US" dirty="0" err="1"/>
              <a:t>souris</a:t>
            </a:r>
            <a:r>
              <a:rPr lang="en-US" dirty="0"/>
              <a:t> (par </a:t>
            </a:r>
            <a:r>
              <a:rPr lang="en-US" dirty="0" err="1"/>
              <a:t>défaut</a:t>
            </a:r>
            <a:r>
              <a:rPr lang="en-US" dirty="0"/>
              <a:t>, le </a:t>
            </a:r>
            <a:r>
              <a:rPr lang="en-US" dirty="0" err="1"/>
              <a:t>bouton</a:t>
            </a:r>
            <a:r>
              <a:rPr lang="en-US" dirty="0"/>
              <a:t> droit pour les </a:t>
            </a:r>
            <a:r>
              <a:rPr lang="en-US" dirty="0" err="1"/>
              <a:t>utilisateurs</a:t>
            </a:r>
            <a:r>
              <a:rPr lang="en-US" dirty="0"/>
              <a:t> </a:t>
            </a:r>
            <a:r>
              <a:rPr lang="en-US" dirty="0" err="1"/>
              <a:t>droitiers</a:t>
            </a:r>
            <a:r>
              <a:rPr lang="en-US" dirty="0"/>
              <a:t>,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A0E37169-64FA-0754-06FF-3758FD979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588464"/>
          </a:xfrm>
        </p:spPr>
        <p:txBody>
          <a:bodyPr/>
          <a:lstStyle/>
          <a:p>
            <a:r>
              <a:rPr lang="fr-FR" dirty="0"/>
              <a:t>INTERFACE GRAPHIQUE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F9D6C1F-E3D5-A830-1217-8FFE7ABA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FF24-F4AD-4806-BEA1-830BE241B56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611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5AA88A-A0A1-4DF7-45FC-CD39603A9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DIFFERENTES ZONES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58F828-C459-576B-CAF9-D7BAEB8AC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 Bureau permet de…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 Démarrage des applications permet de…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 Barre des tâches permet de …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041634-5844-8D8B-9F07-B5432C849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FF24-F4AD-4806-BEA1-830BE241B56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737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24091265-5889-1B2C-6E03-C5A5BDAFA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0042"/>
            <a:ext cx="10515600" cy="588464"/>
          </a:xfrm>
        </p:spPr>
        <p:txBody>
          <a:bodyPr/>
          <a:lstStyle/>
          <a:p>
            <a:r>
              <a:rPr lang="fr-FR" dirty="0"/>
              <a:t>L’EXPLORATEUR DE FICHIERS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2027BF53-D13C-7837-995C-3FEFDF27C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143" y="892360"/>
            <a:ext cx="10515600" cy="560774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fr-FR" sz="1600" dirty="0"/>
              <a:t> </a:t>
            </a:r>
            <a:r>
              <a:rPr lang="en-US" sz="1600" dirty="0" err="1"/>
              <a:t>Permet</a:t>
            </a:r>
            <a:r>
              <a:rPr lang="en-US" sz="1600" dirty="0"/>
              <a:t>  </a:t>
            </a:r>
            <a:r>
              <a:rPr lang="en-US" sz="1600" dirty="0" err="1"/>
              <a:t>d’afficher</a:t>
            </a:r>
            <a:r>
              <a:rPr lang="en-US" sz="1600" dirty="0"/>
              <a:t> et de </a:t>
            </a:r>
            <a:r>
              <a:rPr lang="en-US" sz="1600" dirty="0" err="1"/>
              <a:t>gérer</a:t>
            </a:r>
            <a:r>
              <a:rPr lang="en-US" sz="1600" dirty="0"/>
              <a:t> </a:t>
            </a:r>
            <a:r>
              <a:rPr lang="en-US" sz="1600" dirty="0" err="1"/>
              <a:t>l’ensemble</a:t>
            </a:r>
            <a:r>
              <a:rPr lang="en-US" sz="1600" dirty="0"/>
              <a:t> des </a:t>
            </a:r>
            <a:r>
              <a:rPr lang="en-US" sz="1600" dirty="0" err="1"/>
              <a:t>fichiers</a:t>
            </a:r>
            <a:r>
              <a:rPr lang="en-US" sz="1600" dirty="0"/>
              <a:t> </a:t>
            </a:r>
            <a:r>
              <a:rPr lang="en-US" sz="1600" dirty="0" err="1"/>
              <a:t>stockés</a:t>
            </a:r>
            <a:r>
              <a:rPr lang="en-US" sz="1600" dirty="0"/>
              <a:t> sur le </a:t>
            </a:r>
            <a:r>
              <a:rPr lang="en-US" sz="1600" dirty="0" err="1"/>
              <a:t>disque</a:t>
            </a:r>
            <a:r>
              <a:rPr lang="en-US" sz="1600" dirty="0"/>
              <a:t> dur </a:t>
            </a:r>
            <a:r>
              <a:rPr lang="en-US" sz="1600" dirty="0" err="1"/>
              <a:t>ou</a:t>
            </a:r>
            <a:r>
              <a:rPr lang="en-US" sz="1600" dirty="0"/>
              <a:t> les </a:t>
            </a:r>
            <a:r>
              <a:rPr lang="en-US" sz="1600" dirty="0" err="1"/>
              <a:t>éléments</a:t>
            </a:r>
            <a:r>
              <a:rPr lang="en-US" sz="1600" dirty="0"/>
              <a:t> de stockage </a:t>
            </a:r>
            <a:r>
              <a:rPr lang="en-US" sz="1600" dirty="0" err="1"/>
              <a:t>externes</a:t>
            </a:r>
            <a:r>
              <a:rPr lang="en-US" sz="1600" dirty="0"/>
              <a:t> (</a:t>
            </a:r>
            <a:r>
              <a:rPr lang="en-US" sz="1600" dirty="0" err="1"/>
              <a:t>disques</a:t>
            </a:r>
            <a:r>
              <a:rPr lang="en-US" sz="1600" dirty="0"/>
              <a:t> reseau, </a:t>
            </a:r>
            <a:r>
              <a:rPr lang="en-US" sz="1600" dirty="0" err="1"/>
              <a:t>clés</a:t>
            </a:r>
            <a:r>
              <a:rPr lang="en-US" sz="1600" dirty="0"/>
              <a:t>, </a:t>
            </a:r>
            <a:r>
              <a:rPr lang="en-US" sz="1600" dirty="0" err="1"/>
              <a:t>disques</a:t>
            </a:r>
            <a:r>
              <a:rPr lang="en-US" sz="1600" dirty="0"/>
              <a:t> </a:t>
            </a:r>
            <a:r>
              <a:rPr lang="en-US" sz="1600" dirty="0" err="1"/>
              <a:t>durs</a:t>
            </a:r>
            <a:r>
              <a:rPr lang="en-US" sz="1600" dirty="0"/>
              <a:t> </a:t>
            </a:r>
            <a:r>
              <a:rPr lang="en-US" sz="1600" dirty="0" err="1"/>
              <a:t>externes</a:t>
            </a:r>
            <a:r>
              <a:rPr lang="en-US" sz="1600" dirty="0"/>
              <a:t>…)</a:t>
            </a:r>
            <a:endParaRPr lang="fr-FR" sz="16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AE05136-CD06-FB4D-5D80-04927DDFB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FF24-F4AD-4806-BEA1-830BE241B56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156AA828-851F-6D3D-50A0-EDD09DE5A8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50" t="20209" r="27850" b="21129"/>
          <a:stretch/>
        </p:blipFill>
        <p:spPr>
          <a:xfrm>
            <a:off x="1553502" y="1852395"/>
            <a:ext cx="8102712" cy="4578252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207539CA-7C06-348D-D15A-B338789C0585}"/>
              </a:ext>
            </a:extLst>
          </p:cNvPr>
          <p:cNvSpPr txBox="1"/>
          <p:nvPr/>
        </p:nvSpPr>
        <p:spPr>
          <a:xfrm>
            <a:off x="189344" y="3893713"/>
            <a:ext cx="1891608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1400" b="1" dirty="0">
                <a:solidFill>
                  <a:schemeClr val="accent1"/>
                </a:solidFill>
              </a:rPr>
              <a:t>Volet navigation</a:t>
            </a:r>
          </a:p>
          <a:p>
            <a:r>
              <a:rPr lang="fr-FR" sz="1400" dirty="0">
                <a:solidFill>
                  <a:schemeClr val="accent1"/>
                </a:solidFill>
              </a:rPr>
              <a:t>Ensemble des unités</a:t>
            </a:r>
          </a:p>
          <a:p>
            <a:r>
              <a:rPr lang="fr-FR" sz="1400" dirty="0">
                <a:solidFill>
                  <a:schemeClr val="accent1"/>
                </a:solidFill>
              </a:rPr>
              <a:t>de stockage accessibles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B2F6F54-C174-9E76-9AF1-6A1530DA3C78}"/>
              </a:ext>
            </a:extLst>
          </p:cNvPr>
          <p:cNvSpPr txBox="1"/>
          <p:nvPr/>
        </p:nvSpPr>
        <p:spPr>
          <a:xfrm>
            <a:off x="4490162" y="4778499"/>
            <a:ext cx="1983428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1400" b="1" dirty="0">
                <a:solidFill>
                  <a:schemeClr val="accent1"/>
                </a:solidFill>
              </a:rPr>
              <a:t>Zone d’affichage</a:t>
            </a:r>
          </a:p>
          <a:p>
            <a:r>
              <a:rPr lang="fr-FR" sz="1400" dirty="0">
                <a:solidFill>
                  <a:schemeClr val="accent1"/>
                </a:solidFill>
              </a:rPr>
              <a:t>Détails (personnalisable)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B4E59AFE-2AE3-CB44-4D4C-41171347163E}"/>
              </a:ext>
            </a:extLst>
          </p:cNvPr>
          <p:cNvSpPr txBox="1"/>
          <p:nvPr/>
        </p:nvSpPr>
        <p:spPr>
          <a:xfrm>
            <a:off x="8101952" y="3059668"/>
            <a:ext cx="1840889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1400" b="1" dirty="0">
                <a:solidFill>
                  <a:schemeClr val="accent1"/>
                </a:solidFill>
              </a:rPr>
              <a:t>Zone de visualisation </a:t>
            </a:r>
          </a:p>
          <a:p>
            <a:r>
              <a:rPr lang="fr-FR" sz="1400" dirty="0">
                <a:solidFill>
                  <a:schemeClr val="accent1"/>
                </a:solidFill>
              </a:rPr>
              <a:t>Aperçu du contenu du </a:t>
            </a:r>
            <a:br>
              <a:rPr lang="fr-FR" sz="1400" dirty="0">
                <a:solidFill>
                  <a:schemeClr val="accent1"/>
                </a:solidFill>
              </a:rPr>
            </a:br>
            <a:r>
              <a:rPr lang="fr-FR" sz="1400" dirty="0">
                <a:solidFill>
                  <a:schemeClr val="accent1"/>
                </a:solidFill>
              </a:rPr>
              <a:t>fichier sélectionné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80C1DEB8-1DB2-6F0D-62D2-94DA841A8274}"/>
              </a:ext>
            </a:extLst>
          </p:cNvPr>
          <p:cNvSpPr txBox="1"/>
          <p:nvPr/>
        </p:nvSpPr>
        <p:spPr>
          <a:xfrm>
            <a:off x="4776921" y="1852395"/>
            <a:ext cx="2327497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1400" b="1" dirty="0">
                <a:solidFill>
                  <a:schemeClr val="accent1"/>
                </a:solidFill>
              </a:rPr>
              <a:t>Adresse du fichier ou dossier</a:t>
            </a:r>
            <a:br>
              <a:rPr lang="fr-FR" sz="1400" b="1" dirty="0">
                <a:solidFill>
                  <a:schemeClr val="accent1"/>
                </a:solidFill>
              </a:rPr>
            </a:br>
            <a:r>
              <a:rPr lang="fr-FR" sz="1400" b="1" dirty="0">
                <a:solidFill>
                  <a:schemeClr val="accent1"/>
                </a:solidFill>
              </a:rPr>
              <a:t> sélectionné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30483A0-C552-9C24-14C3-610EA9D07CD3}"/>
              </a:ext>
            </a:extLst>
          </p:cNvPr>
          <p:cNvSpPr txBox="1"/>
          <p:nvPr/>
        </p:nvSpPr>
        <p:spPr>
          <a:xfrm>
            <a:off x="9146212" y="2191040"/>
            <a:ext cx="2225289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1400" b="1" dirty="0">
                <a:solidFill>
                  <a:schemeClr val="accent1"/>
                </a:solidFill>
              </a:rPr>
              <a:t>Zone de recherche </a:t>
            </a:r>
            <a:br>
              <a:rPr lang="fr-FR" sz="1400" b="1" dirty="0">
                <a:solidFill>
                  <a:schemeClr val="accent1"/>
                </a:solidFill>
              </a:rPr>
            </a:br>
            <a:r>
              <a:rPr lang="fr-FR" sz="1400" i="1" dirty="0">
                <a:solidFill>
                  <a:schemeClr val="accent1"/>
                </a:solidFill>
              </a:rPr>
              <a:t>dans le dossier sélectionné </a:t>
            </a:r>
          </a:p>
        </p:txBody>
      </p:sp>
    </p:spTree>
    <p:extLst>
      <p:ext uri="{BB962C8B-B14F-4D97-AF65-F5344CB8AC3E}">
        <p14:creationId xmlns:p14="http://schemas.microsoft.com/office/powerpoint/2010/main" val="2173275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5D085B-09DA-4B98-EF2B-50979701C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DOSSIER WINDOWS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85AECA-52B0-C1D5-B684-225697318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Ce dossier </a:t>
            </a:r>
            <a:r>
              <a:rPr lang="en-US" dirty="0" err="1"/>
              <a:t>contient</a:t>
            </a:r>
            <a:r>
              <a:rPr lang="en-US" dirty="0"/>
              <a:t> de </a:t>
            </a:r>
            <a:r>
              <a:rPr lang="en-US" dirty="0" err="1"/>
              <a:t>nombreux</a:t>
            </a:r>
            <a:r>
              <a:rPr lang="en-US" dirty="0"/>
              <a:t> sous dossiers,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aussi</a:t>
            </a:r>
            <a:r>
              <a:rPr lang="en-US" dirty="0"/>
              <a:t> des </a:t>
            </a:r>
            <a:r>
              <a:rPr lang="en-US" dirty="0" err="1"/>
              <a:t>fichiers</a:t>
            </a:r>
            <a:r>
              <a:rPr lang="en-US" dirty="0"/>
              <a:t> à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racine</a:t>
            </a:r>
            <a:endParaRPr lang="en-US" dirty="0"/>
          </a:p>
          <a:p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System32 : la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partie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 plus sensible du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système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le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centre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nerveux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Windows</a:t>
            </a:r>
          </a:p>
          <a:p>
            <a:endParaRPr lang="en-US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925A29-A615-F33B-65F4-77CEBB78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FF24-F4AD-4806-BEA1-830BE241B56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5171AFD-3CD4-E23D-50AD-B2076EC48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295" y="2649569"/>
            <a:ext cx="5411410" cy="355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228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06D90E-B0AE-FFAD-1127-D3D3CC1CE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: partie 1 et 2 Gestion de fichiers simple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CBFE34-EF7A-8638-9965-2CFEAA7C3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dirty="0">
                <a:solidFill>
                  <a:schemeClr val="accent1"/>
                </a:solidFill>
              </a:rPr>
              <a:t>Mais où suis-je ?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dirty="0">
                <a:solidFill>
                  <a:schemeClr val="accent1"/>
                </a:solidFill>
              </a:rPr>
              <a:t>Cmd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dirty="0">
                <a:solidFill>
                  <a:schemeClr val="accent1"/>
                </a:solidFill>
              </a:rPr>
              <a:t>ipconfig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>
                <a:solidFill>
                  <a:schemeClr val="accent1"/>
                </a:solidFill>
              </a:rPr>
              <a:t>Mais où donc se trouvent mes données ?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dirty="0" err="1">
                <a:solidFill>
                  <a:schemeClr val="accent1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Dir</a:t>
            </a:r>
            <a:r>
              <a:rPr lang="fr-FR" dirty="0">
                <a:solidFill>
                  <a:schemeClr val="accent1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dirty="0">
                <a:solidFill>
                  <a:schemeClr val="accent1"/>
                </a:solidFill>
              </a:rPr>
              <a:t>???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dirty="0">
                <a:solidFill>
                  <a:schemeClr val="accent1"/>
                </a:solidFill>
              </a:rPr>
              <a:t>notion de bureau…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Créer l’arborescence suivante sous votre </a:t>
            </a:r>
            <a:r>
              <a:rPr lang="fr-FR" b="1" dirty="0"/>
              <a:t>espace personnel</a:t>
            </a:r>
            <a:r>
              <a:rPr lang="fr-FR" dirty="0"/>
              <a:t>  (à laide de l’explorateur de fichiers) </a:t>
            </a:r>
          </a:p>
          <a:p>
            <a:pPr marL="457200" lvl="1" indent="0">
              <a:buNone/>
            </a:pPr>
            <a:endParaRPr lang="fr-FR" b="1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Télécharger le sujet de TP sur </a:t>
            </a:r>
            <a:r>
              <a:rPr lang="fr-FR" dirty="0" err="1"/>
              <a:t>elearn</a:t>
            </a: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Le stocker dans le dossier Systèmes et Réseaux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Suivre les consignes du sujet de TP Partie 1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E8D862-9CB4-6B97-748E-5C8DA14DF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FF24-F4AD-4806-BEA1-830BE241B566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E548D52F-E97D-C766-8596-79238ED489B6}"/>
              </a:ext>
            </a:extLst>
          </p:cNvPr>
          <p:cNvGrpSpPr/>
          <p:nvPr/>
        </p:nvGrpSpPr>
        <p:grpSpPr>
          <a:xfrm>
            <a:off x="8860075" y="1929279"/>
            <a:ext cx="2493725" cy="1996425"/>
            <a:chOff x="3521132" y="2741655"/>
            <a:chExt cx="2493725" cy="1996425"/>
          </a:xfrm>
        </p:grpSpPr>
        <p:pic>
          <p:nvPicPr>
            <p:cNvPr id="19" name="Picture 2" descr="Resultado de imagen de folder windows 10 icon">
              <a:extLst>
                <a:ext uri="{FF2B5EF4-FFF2-40B4-BE49-F238E27FC236}">
                  <a16:creationId xmlns:a16="http://schemas.microsoft.com/office/drawing/2014/main" id="{AF347CA9-D04E-93E6-85B2-C3D88FD18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98000" l="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4598993" y="2741655"/>
              <a:ext cx="666160" cy="6661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Resultado de imagen de folder windows 10 icon">
              <a:extLst>
                <a:ext uri="{FF2B5EF4-FFF2-40B4-BE49-F238E27FC236}">
                  <a16:creationId xmlns:a16="http://schemas.microsoft.com/office/drawing/2014/main" id="{5DEFF9BD-343C-C141-DCFF-534216C82A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98000" l="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4029523" y="3313385"/>
              <a:ext cx="704039" cy="7040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0E47612-F79A-2299-CA8D-BC2E3588694B}"/>
                </a:ext>
              </a:extLst>
            </p:cNvPr>
            <p:cNvSpPr/>
            <p:nvPr/>
          </p:nvSpPr>
          <p:spPr>
            <a:xfrm>
              <a:off x="4762713" y="2999243"/>
              <a:ext cx="308098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600" dirty="0"/>
                <a:t>IUT 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55BC07B-FDF1-B073-A6F1-1FB76AE0E59A}"/>
                </a:ext>
              </a:extLst>
            </p:cNvPr>
            <p:cNvSpPr/>
            <p:nvPr/>
          </p:nvSpPr>
          <p:spPr>
            <a:xfrm>
              <a:off x="4100710" y="3512341"/>
              <a:ext cx="532518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600" dirty="0" err="1">
                  <a:latin typeface="Arial" panose="020B0604020202020204" pitchFamily="34" charset="0"/>
                  <a:cs typeface="Arial" panose="020B0604020202020204" pitchFamily="34" charset="0"/>
                </a:rPr>
                <a:t>Années</a:t>
              </a:r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 1 </a:t>
              </a:r>
            </a:p>
          </p:txBody>
        </p:sp>
        <p:pic>
          <p:nvPicPr>
            <p:cNvPr id="8" name="Picture 2" descr="Resultado de imagen de folder windows 10 icon">
              <a:extLst>
                <a:ext uri="{FF2B5EF4-FFF2-40B4-BE49-F238E27FC236}">
                  <a16:creationId xmlns:a16="http://schemas.microsoft.com/office/drawing/2014/main" id="{04B3676F-A568-8193-12DB-30CB18BC7A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98000" l="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5310818" y="3313384"/>
              <a:ext cx="704039" cy="7040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41F6AAB-04F6-DE6B-03E2-87ECCE199493}"/>
                </a:ext>
              </a:extLst>
            </p:cNvPr>
            <p:cNvSpPr/>
            <p:nvPr/>
          </p:nvSpPr>
          <p:spPr>
            <a:xfrm>
              <a:off x="5396578" y="3520249"/>
              <a:ext cx="532518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600" dirty="0" err="1">
                  <a:latin typeface="Arial" panose="020B0604020202020204" pitchFamily="34" charset="0"/>
                  <a:cs typeface="Arial" panose="020B0604020202020204" pitchFamily="34" charset="0"/>
                </a:rPr>
                <a:t>Années</a:t>
              </a:r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 2 </a:t>
              </a:r>
            </a:p>
          </p:txBody>
        </p:sp>
        <p:pic>
          <p:nvPicPr>
            <p:cNvPr id="10" name="Picture 2" descr="Resultado de imagen de folder windows 10 icon">
              <a:extLst>
                <a:ext uri="{FF2B5EF4-FFF2-40B4-BE49-F238E27FC236}">
                  <a16:creationId xmlns:a16="http://schemas.microsoft.com/office/drawing/2014/main" id="{24E8EE5E-5D41-C1C3-A695-5F1FA872A5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98000" l="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4283472" y="4034041"/>
              <a:ext cx="704039" cy="7040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E724AF-B898-0DB1-3A7F-796E75367AEB}"/>
                </a:ext>
              </a:extLst>
            </p:cNvPr>
            <p:cNvSpPr/>
            <p:nvPr/>
          </p:nvSpPr>
          <p:spPr>
            <a:xfrm>
              <a:off x="4337173" y="4196837"/>
              <a:ext cx="59663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600" dirty="0" err="1">
                  <a:latin typeface="Arial" panose="020B0604020202020204" pitchFamily="34" charset="0"/>
                  <a:cs typeface="Arial" panose="020B0604020202020204" pitchFamily="34" charset="0"/>
                </a:rPr>
                <a:t>Systémes</a:t>
              </a:r>
              <a:r>
                <a:rPr lang="fr-FR" sz="6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r>
                <a:rPr lang="fr-FR" sz="600" dirty="0">
                  <a:latin typeface="Arial" panose="020B0604020202020204" pitchFamily="34" charset="0"/>
                  <a:cs typeface="Arial" panose="020B0604020202020204" pitchFamily="34" charset="0"/>
                </a:rPr>
                <a:t>et Réseaux </a:t>
              </a:r>
              <a:endParaRPr lang="en-US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2" name="Picture 2" descr="Resultado de imagen de folder windows 10 icon">
              <a:extLst>
                <a:ext uri="{FF2B5EF4-FFF2-40B4-BE49-F238E27FC236}">
                  <a16:creationId xmlns:a16="http://schemas.microsoft.com/office/drawing/2014/main" id="{B4FAE105-94E0-F1D3-E036-8EB8A6D577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98000" l="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3521132" y="4034041"/>
              <a:ext cx="704039" cy="7040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3824D1A-757E-5BD3-A8D7-5E0B15711969}"/>
                </a:ext>
              </a:extLst>
            </p:cNvPr>
            <p:cNvSpPr/>
            <p:nvPr/>
          </p:nvSpPr>
          <p:spPr>
            <a:xfrm>
              <a:off x="3627450" y="4268885"/>
              <a:ext cx="554960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600" dirty="0">
                  <a:latin typeface="Arial" panose="020B0604020202020204" pitchFamily="34" charset="0"/>
                  <a:cs typeface="Arial" panose="020B0604020202020204" pitchFamily="34" charset="0"/>
                </a:rPr>
                <a:t>Algorithme</a:t>
              </a:r>
              <a:endParaRPr lang="en-US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4" name="Connecteur droit avec flèche 13">
              <a:extLst>
                <a:ext uri="{FF2B5EF4-FFF2-40B4-BE49-F238E27FC236}">
                  <a16:creationId xmlns:a16="http://schemas.microsoft.com/office/drawing/2014/main" id="{EBB5A946-833F-FD3E-8A20-19A65BAFFCAA}"/>
                </a:ext>
              </a:extLst>
            </p:cNvPr>
            <p:cNvCxnSpPr/>
            <p:nvPr/>
          </p:nvCxnSpPr>
          <p:spPr>
            <a:xfrm flipH="1">
              <a:off x="4540196" y="3255447"/>
              <a:ext cx="146850" cy="2648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avec flèche 14">
              <a:extLst>
                <a:ext uri="{FF2B5EF4-FFF2-40B4-BE49-F238E27FC236}">
                  <a16:creationId xmlns:a16="http://schemas.microsoft.com/office/drawing/2014/main" id="{FD0ED423-E8B3-81EA-17CB-DEF2243B0839}"/>
                </a:ext>
              </a:extLst>
            </p:cNvPr>
            <p:cNvCxnSpPr/>
            <p:nvPr/>
          </p:nvCxnSpPr>
          <p:spPr>
            <a:xfrm>
              <a:off x="5173048" y="3255447"/>
              <a:ext cx="177865" cy="2648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avec flèche 15">
              <a:extLst>
                <a:ext uri="{FF2B5EF4-FFF2-40B4-BE49-F238E27FC236}">
                  <a16:creationId xmlns:a16="http://schemas.microsoft.com/office/drawing/2014/main" id="{352C6DB6-AB17-F475-8530-832E1B9F9116}"/>
                </a:ext>
              </a:extLst>
            </p:cNvPr>
            <p:cNvCxnSpPr/>
            <p:nvPr/>
          </p:nvCxnSpPr>
          <p:spPr>
            <a:xfrm flipH="1">
              <a:off x="3956098" y="3906064"/>
              <a:ext cx="146850" cy="2648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avec flèche 16">
              <a:extLst>
                <a:ext uri="{FF2B5EF4-FFF2-40B4-BE49-F238E27FC236}">
                  <a16:creationId xmlns:a16="http://schemas.microsoft.com/office/drawing/2014/main" id="{D77F4BD1-2001-E360-630B-785D4474C485}"/>
                </a:ext>
              </a:extLst>
            </p:cNvPr>
            <p:cNvCxnSpPr/>
            <p:nvPr/>
          </p:nvCxnSpPr>
          <p:spPr>
            <a:xfrm>
              <a:off x="4513799" y="3901639"/>
              <a:ext cx="166405" cy="2951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19248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>
            <a:extLst>
              <a:ext uri="{FF2B5EF4-FFF2-40B4-BE49-F238E27FC236}">
                <a16:creationId xmlns:a16="http://schemas.microsoft.com/office/drawing/2014/main" id="{A9A94DB8-BCFD-0BA1-440E-42B87ED4B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PROPRIETES DES FICHIERS/DOSSIERS</a:t>
            </a:r>
          </a:p>
        </p:txBody>
      </p:sp>
      <p:sp>
        <p:nvSpPr>
          <p:cNvPr id="14" name="Espace réservé du contenu 13">
            <a:extLst>
              <a:ext uri="{FF2B5EF4-FFF2-40B4-BE49-F238E27FC236}">
                <a16:creationId xmlns:a16="http://schemas.microsoft.com/office/drawing/2014/main" id="{0A9A0A6E-30A2-7D68-C6F3-66DB297C1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Généralités</a:t>
            </a:r>
            <a:endParaRPr lang="en-US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Le type de </a:t>
            </a:r>
            <a:r>
              <a:rPr lang="en-US" sz="1400" dirty="0" err="1"/>
              <a:t>fichier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L’emplacement</a:t>
            </a:r>
            <a:r>
              <a:rPr lang="en-US" sz="1400" dirty="0"/>
              <a:t> de </a:t>
            </a:r>
            <a:r>
              <a:rPr lang="en-US" sz="1400" dirty="0" err="1"/>
              <a:t>l’élément</a:t>
            </a:r>
            <a:r>
              <a:rPr lang="en-US" sz="1400" dirty="0"/>
              <a:t> </a:t>
            </a:r>
            <a:r>
              <a:rPr lang="en-US" sz="1400" dirty="0" err="1"/>
              <a:t>sélectionné</a:t>
            </a:r>
            <a:r>
              <a:rPr lang="en-US" sz="1400" dirty="0"/>
              <a:t> sur le </a:t>
            </a:r>
            <a:r>
              <a:rPr lang="en-US" sz="1400" dirty="0" err="1"/>
              <a:t>disque</a:t>
            </a:r>
            <a:r>
              <a:rPr lang="en-US" sz="1400" dirty="0"/>
              <a:t> dur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La taille des </a:t>
            </a:r>
            <a:r>
              <a:rPr lang="en-US" sz="1400" dirty="0" err="1"/>
              <a:t>éléments</a:t>
            </a:r>
            <a:r>
              <a:rPr lang="en-US" sz="1400" dirty="0"/>
              <a:t> </a:t>
            </a:r>
            <a:r>
              <a:rPr lang="en-US" sz="1400" dirty="0" err="1"/>
              <a:t>sélectionnés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Le </a:t>
            </a:r>
            <a:r>
              <a:rPr lang="en-US" sz="1400" dirty="0" err="1"/>
              <a:t>nombre</a:t>
            </a:r>
            <a:r>
              <a:rPr lang="en-US" sz="1400" dirty="0"/>
              <a:t> de </a:t>
            </a:r>
            <a:r>
              <a:rPr lang="en-US" sz="1400" dirty="0" err="1"/>
              <a:t>fichiers</a:t>
            </a:r>
            <a:r>
              <a:rPr lang="en-US" sz="1400" dirty="0"/>
              <a:t> et de sous-dossiers que </a:t>
            </a:r>
            <a:r>
              <a:rPr lang="en-US" sz="1400" dirty="0" err="1"/>
              <a:t>contient</a:t>
            </a:r>
            <a:r>
              <a:rPr lang="en-US" sz="1400" dirty="0"/>
              <a:t> un dossier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La date à </a:t>
            </a:r>
            <a:r>
              <a:rPr lang="en-US" sz="1400" dirty="0" err="1"/>
              <a:t>laquelle</a:t>
            </a:r>
            <a:r>
              <a:rPr lang="en-US" sz="1400" dirty="0"/>
              <a:t> le </a:t>
            </a:r>
            <a:r>
              <a:rPr lang="en-US" sz="1400" dirty="0" err="1"/>
              <a:t>fichier</a:t>
            </a:r>
            <a:r>
              <a:rPr lang="en-US" sz="1400" dirty="0"/>
              <a:t>/dossier a </a:t>
            </a:r>
            <a:r>
              <a:rPr lang="en-US" sz="1400" dirty="0" err="1"/>
              <a:t>été</a:t>
            </a:r>
            <a:r>
              <a:rPr lang="en-US" sz="1400" dirty="0"/>
              <a:t> </a:t>
            </a:r>
            <a:r>
              <a:rPr lang="en-US" sz="1400" dirty="0" err="1"/>
              <a:t>créé</a:t>
            </a:r>
            <a:r>
              <a:rPr lang="en-US" sz="1400" dirty="0"/>
              <a:t> et </a:t>
            </a:r>
            <a:r>
              <a:rPr lang="en-US" sz="1400" dirty="0" err="1"/>
              <a:t>modifié</a:t>
            </a:r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/>
              <a:t>Sécurité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841FF38-C955-EAF0-B382-5EABFFF19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FF24-F4AD-4806-BEA1-830BE241B56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85093E6E-091B-9A1A-FFE1-C19C25DCD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134" y="481353"/>
            <a:ext cx="3941809" cy="410304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689686AF-DAA2-05AC-7630-C99DADEF4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583" y="3038284"/>
            <a:ext cx="3388833" cy="371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21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06D90E-B0AE-FFAD-1127-D3D3CC1CE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: partie 3 Propriétés des fichiers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CBFE34-EF7A-8638-9965-2CFEAA7C3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dirty="0"/>
              <a:t>Suivre les indications sur le sujet de TP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E8D862-9CB4-6B97-748E-5C8DA14DF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FF24-F4AD-4806-BEA1-830BE241B56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823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53568899-315E-E2C0-293C-D6595BA59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 Partager ce n’est pas envoyer une copie (WhatsApp, Snap…)</a:t>
            </a:r>
          </a:p>
          <a:p>
            <a:r>
              <a:rPr lang="fr-FR" dirty="0"/>
              <a:t> Partager c’est donner un accès</a:t>
            </a:r>
          </a:p>
          <a:p>
            <a:pPr lvl="1"/>
            <a:r>
              <a:rPr lang="fr-FR" dirty="0"/>
              <a:t>À une partie de vos données (fichier, dossier…)</a:t>
            </a:r>
          </a:p>
          <a:p>
            <a:pPr lvl="1"/>
            <a:r>
              <a:rPr lang="fr-FR" dirty="0"/>
              <a:t>A une ou plusieurs personnes identifiées sur le réseau</a:t>
            </a:r>
          </a:p>
          <a:p>
            <a:pPr lvl="1"/>
            <a:r>
              <a:rPr lang="fr-FR" dirty="0"/>
              <a:t>Qui auront des droits spécifiques (lecture, écriture)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CCA508B-A7CD-99D5-FB17-B3DA8FC30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PARTAGER DES FICHIERS SUR LE RESEAU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B24D422-F6EF-4A1B-AC95-F9F69D4D5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FF24-F4AD-4806-BEA1-830BE241B56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1" name="Image 10" descr="Une image contenant texte&#10;&#10;Description générée automatiquement">
            <a:extLst>
              <a:ext uri="{FF2B5EF4-FFF2-40B4-BE49-F238E27FC236}">
                <a16:creationId xmlns:a16="http://schemas.microsoft.com/office/drawing/2014/main" id="{AA9C2BEF-7954-5B54-8DA4-266A5E8D6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7380" y="3983091"/>
            <a:ext cx="3952873" cy="1868901"/>
          </a:xfrm>
          <a:prstGeom prst="rect">
            <a:avLst/>
          </a:prstGeom>
        </p:spPr>
      </p:pic>
      <p:pic>
        <p:nvPicPr>
          <p:cNvPr id="13" name="Image 12" descr="Une image contenant texte&#10;&#10;Description générée automatiquement">
            <a:extLst>
              <a:ext uri="{FF2B5EF4-FFF2-40B4-BE49-F238E27FC236}">
                <a16:creationId xmlns:a16="http://schemas.microsoft.com/office/drawing/2014/main" id="{75F30F5A-5AED-EBEE-FE8F-E6C97901D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4837" y="3388411"/>
            <a:ext cx="2545330" cy="3145052"/>
          </a:xfrm>
          <a:prstGeom prst="rect">
            <a:avLst/>
          </a:prstGeom>
        </p:spPr>
      </p:pic>
      <p:pic>
        <p:nvPicPr>
          <p:cNvPr id="15" name="Image 14" descr="Une image contenant texte&#10;&#10;Description générée automatiquement">
            <a:extLst>
              <a:ext uri="{FF2B5EF4-FFF2-40B4-BE49-F238E27FC236}">
                <a16:creationId xmlns:a16="http://schemas.microsoft.com/office/drawing/2014/main" id="{680AC9E4-1E18-913F-C0F4-C73C091FC3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3843" y="3261032"/>
            <a:ext cx="3067611" cy="331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264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06D90E-B0AE-FFAD-1127-D3D3CC1CE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: partie 4 Partage des fichiers/dossiers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CBFE34-EF7A-8638-9965-2CFEAA7C3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dirty="0"/>
              <a:t>Suivre les indications sur le sujet de TP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E8D862-9CB4-6B97-748E-5C8DA14DF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6FF24-F4AD-4806-BEA1-830BE241B56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23908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614</Words>
  <Application>Microsoft Office PowerPoint</Application>
  <PresentationFormat>Grand écran</PresentationFormat>
  <Paragraphs>126</Paragraphs>
  <Slides>12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Symbol</vt:lpstr>
      <vt:lpstr>Wingdings</vt:lpstr>
      <vt:lpstr>Thème Office</vt:lpstr>
      <vt:lpstr>Système d'exploitation Windows </vt:lpstr>
      <vt:lpstr>RAPPELS</vt:lpstr>
      <vt:lpstr>HISTOIRE</vt:lpstr>
      <vt:lpstr>INTERFACE GRAPHIQUE</vt:lpstr>
      <vt:lpstr>LES DIFFERENTES ZONES</vt:lpstr>
      <vt:lpstr>L’EXPLORATEUR DE FICHIERS</vt:lpstr>
      <vt:lpstr>DOSSIER WINDOWS</vt:lpstr>
      <vt:lpstr>TP : partie 1 et 2 Gestion de fichiers simple</vt:lpstr>
      <vt:lpstr>PROPRIETES DES FICHIERS/DOSSIERS</vt:lpstr>
      <vt:lpstr>TP : partie 3 Propriétés des fichiers</vt:lpstr>
      <vt:lpstr>PARTAGER DES FICHIERS SUR LE RESEAU</vt:lpstr>
      <vt:lpstr>TP : partie 4 Partage des fichiers/dossiers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Paulo Perez</dc:creator>
  <cp:lastModifiedBy>Nathalie VALLES</cp:lastModifiedBy>
  <cp:revision>64</cp:revision>
  <dcterms:created xsi:type="dcterms:W3CDTF">2019-07-02T11:39:44Z</dcterms:created>
  <dcterms:modified xsi:type="dcterms:W3CDTF">2022-09-12T14:59:15Z</dcterms:modified>
</cp:coreProperties>
</file>